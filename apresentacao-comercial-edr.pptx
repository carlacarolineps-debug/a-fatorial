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mensal de faturamento</c:v>
                </c:pt>
              </c:strCache>
            </c:strRef>
          </c:tx>
          <c:spPr>
            <a:solidFill>
              <a:srgbClr val="2166AC"/>
            </a:solidFill>
            <a:effectLst/>
          </c:spPr>
          <c:invertIfNegative val="0"/>
          <c:dLbls>
            <c:numFmt formatCode="&quot;R$ &quot;0&quot; mil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82A3E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401.158</c:v>
                </c:pt>
                <c:pt idx="1">
                  <c:v>200.182</c:v>
                </c:pt>
                <c:pt idx="2">
                  <c:v>382.8</c:v>
                </c:pt>
              </c:numCache>
            </c:numRef>
          </c:val>
        </c:ser>
        <c:dLbls>
          <c:numFmt formatCode="&quot;R$ &quot;0&quot; mil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82A3E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Meta de referência</c:v>
                </c:pt>
              </c:strCache>
            </c:strRef>
          </c:tx>
          <c:spPr>
            <a:solidFill>
              <a:srgbClr val="182A3E"/>
            </a:solidFill>
            <a:ln w="19050" cap="flat">
              <a:solidFill>
                <a:srgbClr val="182A3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82A3E"/>
              </a:solidFill>
              <a:ln w="9525" cap="flat">
                <a:solidFill>
                  <a:srgbClr val="182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900</c:v>
                </c:pt>
                <c:pt idx="1">
                  <c:v>900</c:v>
                </c:pt>
                <c:pt idx="2">
                  <c:v>900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A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9525" cap="flat">
              <a:solidFill>
                <a:srgbClr val="E4EAF1"/>
              </a:solidFill>
              <a:prstDash val="solid"/>
              <a:round/>
            </a:ln>
          </c:spPr>
        </c:majorGridlines>
        <c:numFmt formatCode="0&quot; mil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879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mensal ago–dez</c:v>
                </c:pt>
              </c:strCache>
            </c:strRef>
          </c:tx>
          <c:spPr>
            <a:solidFill>
              <a:srgbClr val="2166AC"/>
            </a:solidFill>
            <a:effectLst/>
          </c:spPr>
          <c:invertIfNegative val="0"/>
          <c:dLbls>
            <c:numFmt formatCode="&quot;R$ &quot;0&quot; mil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82A3E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299.881</c:v>
                </c:pt>
                <c:pt idx="1">
                  <c:v>202.131</c:v>
                </c:pt>
                <c:pt idx="2">
                  <c:v>278.603</c:v>
                </c:pt>
              </c:numCache>
            </c:numRef>
          </c:val>
        </c:ser>
        <c:dLbls>
          <c:numFmt formatCode="&quot;R$ &quot;0&quot; mil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82A3E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Meta de referência</c:v>
                </c:pt>
              </c:strCache>
            </c:strRef>
          </c:tx>
          <c:spPr>
            <a:solidFill>
              <a:srgbClr val="182A3E"/>
            </a:solidFill>
            <a:ln w="19050" cap="flat">
              <a:solidFill>
                <a:srgbClr val="182A3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82A3E"/>
              </a:solidFill>
              <a:ln w="9525" cap="flat">
                <a:solidFill>
                  <a:srgbClr val="182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900</c:v>
                </c:pt>
                <c:pt idx="1">
                  <c:v>900</c:v>
                </c:pt>
                <c:pt idx="2">
                  <c:v>900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A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9525" cap="flat">
              <a:solidFill>
                <a:srgbClr val="E4EAF1"/>
              </a:solidFill>
              <a:prstDash val="solid"/>
              <a:round/>
            </a:ln>
          </c:spPr>
        </c:majorGridlines>
        <c:numFmt formatCode="0&quot; mil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879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2166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Maio</c:v>
                  </c:pt>
                  <c:pt idx="1">
                    <c:v>Junho</c:v>
                  </c:pt>
                  <c:pt idx="2">
                    <c:v>Julho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443.207</c:v>
                </c:pt>
                <c:pt idx="2">
                  <c:v>648.611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Despesas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Maio</c:v>
                  </c:pt>
                  <c:pt idx="1">
                    <c:v>Junho</c:v>
                  </c:pt>
                  <c:pt idx="2">
                    <c:v>Julho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190.354</c:v>
                </c:pt>
                <c:pt idx="1">
                  <c:v>576.493</c:v>
                </c:pt>
                <c:pt idx="2">
                  <c:v>688.908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-1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82A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9525" cap="flat">
              <a:solidFill>
                <a:srgbClr val="E4EAF1"/>
              </a:solidFill>
              <a:prstDash val="solid"/>
              <a:round/>
            </a:ln>
          </c:spPr>
        </c:majorGridlines>
        <c:numFmt formatCode="0&quot; mil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879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155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554480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8E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e Financeiro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5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promocionais e brindes corporativos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074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D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construído a partir dos documentos, registros de vendas,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D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orçamentos e entrevistas — estrutura encontrada em 2026.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ESCOPO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levantado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informações comerciais e financeiras deste levantamento foram construídas a partir dos documentos disponibilizados, dos registros de vendas e orçamentos e de entrevistas com a equipe.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objetivo é dar aos sócios uma fotografia fiel da operação comercial encontrada em 2026: como ela está estruturada, o que os números dos últimos três anos mostram e qual foi o comportamento de receitas e despesas no trimestre mais recente.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26480" y="169164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55080" y="18196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7647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comercial e levantamento financeiro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53288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6060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com os colaboradores envolvidos no processo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37413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3502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44728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do faturamento dos últimos 3 anos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215384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4343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42885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× rentabilidade do trimestre maio, junho e julho de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5056632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5184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51297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 e receitas do mesmo trimestre de 2026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 — Levantamento Comercial e Financeiro · 2026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ESTRUTURA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apresentada em 2026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enxuta e metas definidas — mas sem os instrumentos de gestão que sustentam uma área comercial.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5146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8346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representantes, 1 gerente comercial e 1 assistente de vendas.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65576" y="233172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6744" y="25146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66744" y="28346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R$ 800 mil/mês no 1º semestre e R$ 1 milhão no 2º — vigentes de 2023 a 2025.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233172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5146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8346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foram identificados indicadores comerciais consolidados.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25128" y="233172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6296" y="25146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226296" y="28346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foi identificado CRM em utilização.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97764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41605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44805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clientes e de perdas não consolidado.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65576" y="397764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66744" y="41605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66744" y="44805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 e taxa de conversão não disponíveis de forma consolidada.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397764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41605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4805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dos leads não consolidada.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25128" y="397764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26296" y="41605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226296" y="44805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sem controle centralizado nos registros analisados.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 — Levantamento Comercial e Financeiro · 2026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183112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SÍNTESE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histórica do levantamento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Elevada oscilação mensal e diferenças relevantes entre os períodos disponíveis. O maior percentual de atingimento da meta foi de 44,6%.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551176"/>
            <a:ext cx="10817352" cy="0"/>
          </a:xfrm>
          <a:prstGeom prst="line">
            <a:avLst/>
          </a:prstGeom>
          <a:noFill/>
          <a:ln w="9525">
            <a:solidFill>
              <a:srgbClr val="DB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7249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6791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atuação relatada combina relacionamento, prospecção, desenvolvimento personalizado e negociação.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447288"/>
            <a:ext cx="10817352" cy="0"/>
          </a:xfrm>
          <a:prstGeom prst="line">
            <a:avLst/>
          </a:prstGeom>
          <a:noFill/>
          <a:ln w="9525">
            <a:solidFill>
              <a:srgbClr val="DB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210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57530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comercial enxuta, com participação direta dos sócios e forte presença da ex-sócia na condução das vendas.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10817352" cy="0"/>
          </a:xfrm>
          <a:prstGeom prst="line">
            <a:avLst/>
          </a:prstGeom>
          <a:noFill/>
          <a:ln w="9525">
            <a:solidFill>
              <a:srgbClr val="DB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51713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E PRODUTOS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447141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 grandes empresas, fabricação própria de plásticos, desenvolvimento de moldes e linhas recorrentes, como copos e xícaras.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5239512"/>
            <a:ext cx="10817352" cy="0"/>
          </a:xfrm>
          <a:prstGeom prst="line">
            <a:avLst/>
          </a:prstGeom>
          <a:noFill/>
          <a:ln w="9525">
            <a:solidFill>
              <a:srgbClr val="DB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4132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5367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Informações comerciais distribuídas em diferentes arquivos, sem consolidação única de indicadores e históricos.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 — Levantamento Comercial e Financeiro · 2026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FATURAMENTO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do faturamento — 2023 a 2025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465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 —  44,6% da meta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R$ 4.813.901,32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 R$ 401.158,44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17465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—  22,2% da meta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R$ 2.402.185,30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 R$ 200.182,11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55864" y="160020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4464" y="17465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 —  42,5% da meta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R$ 4.593.599,50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 R$ 382.799,96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85800" y="3154680"/>
          <a:ext cx="1081735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85800" y="605332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tracejada: meta de referência de R$ 900 mil/mês (média das metas de R$ 800 mil e R$ 1 milhão). Atingimento: 44,6% em 2023 · 22,2% em 2024 · 42,5% em 2025.   Fonte: informações recebidas pela empresa.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 — Levantamento Comercial e Financeiro · 2026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183112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PONTO DE ATENÇÃO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a dezembro: o ritmo cai no fim do ano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2023 e 2025, a média mensal de agosto a dezembro ficou bem abaixo da média do ano; em 2024, ficou praticamente igual. O segundo semestre, que carrega a meta mais alta, é justamente onde o ritmo tende a diminuir.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194560"/>
          <a:ext cx="7406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50392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 NO PERÍODO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081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R$ 299.881,26   ·   33,3% da meta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566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8587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R$ 202.130,66   ·   22,5% da meta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4343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46360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R$ 278.603,08   ·   31,0% da meta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tracejada: meta de referência de R$ 900 mil/mês.   Fonte: informações recebidas pela empresa.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 — Levantamento Comercial e Financeiro · 2026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183112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TRIMESTRE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Receitas × despesas — maio a julho de 2026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73352"/>
                <a:gridCol w="1673352"/>
                <a:gridCol w="1682496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87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Mês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87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87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Despesas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87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R$ 190.354,01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33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 R$ 190.354,01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Junho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R$ 443.206,60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R$ 576.492,84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33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 R$ 133.286,24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Julho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R$ 648.611,47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R$ 688.907,87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33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 R$ 40.296,40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do período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R$ 1.091.818,07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R$ 1.455.754,72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33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 R$ 363.936,65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64592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0B1D3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E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DO TRIMESTRE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R$ 363.936,65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9718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7D5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não registrou receita. Junho e julho mostram recuperação de faturamento, com o prejuízo mensal caindo de R$ 190,4 mil para R$ 40,3 mil — mas as despesas ainda superam as receitas nos três meses.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4663440"/>
          <a:ext cx="67665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 — Levantamento Comercial e Financeiro · 2026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11183112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ESTUDOS POR CLIENTE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os pedidos recentes dizem sobre a margem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pedidos de três clientes, abertos nota a nota — receitas, custos de fornecedores, fretes, comissões e impostos.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10312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MAUI Marketing Promocional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44144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 Lâmpada do Gênio (Chamyto)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3127 e 3132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374136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R$ 270.616,36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 despesas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399592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R$ 247.060,52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4398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461772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R$ 23.555,84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5093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sobre a receita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5001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1832" y="5404104"/>
            <a:ext cx="3008376" cy="109728"/>
          </a:xfrm>
          <a:prstGeom prst="roundRect">
            <a:avLst>
              <a:gd name="adj" fmla="val 50000"/>
            </a:avLst>
          </a:prstGeom>
          <a:solidFill>
            <a:srgbClr val="DDE7F0"/>
          </a:solidFill>
          <a:ln/>
        </p:spPr>
      </p:sp>
      <p:sp>
        <p:nvSpPr>
          <p:cNvPr id="17" name="Shape 15"/>
          <p:cNvSpPr/>
          <p:nvPr/>
        </p:nvSpPr>
        <p:spPr>
          <a:xfrm>
            <a:off x="941832" y="5404104"/>
            <a:ext cx="1308644" cy="109728"/>
          </a:xfrm>
          <a:prstGeom prst="roundRect">
            <a:avLst>
              <a:gd name="adj" fmla="val 50000"/>
            </a:avLst>
          </a:prstGeom>
          <a:solidFill>
            <a:srgbClr val="216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4370832" y="18745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26864" y="210312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Nestlé Brasil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26864" y="244144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Lixeiras NDG cinza, vermelha e branca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3121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374136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R$ 527.810,00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26864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 despesas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399592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R$ 439.475,02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4398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26864" y="461772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R$ 88.334,98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5093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sobre a receita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5001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16,74%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26864" y="5404104"/>
            <a:ext cx="3008376" cy="109728"/>
          </a:xfrm>
          <a:prstGeom prst="roundRect">
            <a:avLst>
              <a:gd name="adj" fmla="val 50000"/>
            </a:avLst>
          </a:prstGeom>
          <a:solidFill>
            <a:srgbClr val="DDE7F0"/>
          </a:solidFill>
          <a:ln/>
        </p:spPr>
      </p:sp>
      <p:sp>
        <p:nvSpPr>
          <p:cNvPr id="30" name="Shape 28"/>
          <p:cNvSpPr/>
          <p:nvPr/>
        </p:nvSpPr>
        <p:spPr>
          <a:xfrm>
            <a:off x="4626864" y="5404104"/>
            <a:ext cx="2518011" cy="109728"/>
          </a:xfrm>
          <a:prstGeom prst="roundRect">
            <a:avLst>
              <a:gd name="adj" fmla="val 50000"/>
            </a:avLst>
          </a:prstGeom>
          <a:solidFill>
            <a:srgbClr val="2166AC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5864" y="18745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EEF4F9"/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11896" y="210312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 Global do Brasil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11896" y="244144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Copo lata com alça (Absolut / Tabasco)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3124 e 3125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311896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311896" y="3374136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R$ 210.554,60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11896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 despesas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311896" y="399592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R$ 174.414,82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311896" y="4398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311896" y="461772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R$ 36.139,78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311896" y="5093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sobre a receita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405872" y="5001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17,16%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11896" y="5404104"/>
            <a:ext cx="3008376" cy="109728"/>
          </a:xfrm>
          <a:prstGeom prst="roundRect">
            <a:avLst>
              <a:gd name="adj" fmla="val 50000"/>
            </a:avLst>
          </a:prstGeom>
          <a:solidFill>
            <a:srgbClr val="DDE7F0"/>
          </a:solidFill>
          <a:ln/>
        </p:spPr>
      </p:sp>
      <p:sp>
        <p:nvSpPr>
          <p:cNvPr id="43" name="Shape 41"/>
          <p:cNvSpPr/>
          <p:nvPr/>
        </p:nvSpPr>
        <p:spPr>
          <a:xfrm>
            <a:off x="8311896" y="5404104"/>
            <a:ext cx="2581187" cy="109728"/>
          </a:xfrm>
          <a:prstGeom prst="roundRect">
            <a:avLst>
              <a:gd name="adj" fmla="val 50000"/>
            </a:avLst>
          </a:prstGeom>
          <a:solidFill>
            <a:srgbClr val="2166A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5800" y="605332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 de margem em escala de 0 a 20%.   Prazos de recebimento: na maior parte dos pedidos, 45, 100 e até 120 dias (um pedido MAUI em 7/14 dias) — pressão de caixa mesmo com margem positiva.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 — Levantamento Comercial e Financeiro · 2026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1183112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CENÁRIO DE REFERÊNCIA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seria um resultado de 20% sobre a média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de referência: o resultado que a operação teria gerado caso as vendas de cada ano tivessem saído com 20% de rentabilidade.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03120"/>
          <a:ext cx="108173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017520"/>
                <a:gridCol w="313639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87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87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Faturamento do ano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87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 sobre o ano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87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 sobre a média mensal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R$ 4.813.901,32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166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R$ 962.780,28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R$ 80.231,69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R$ 2.402.185,30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166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R$ 480.437,04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R$ 40.036,42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R$ 4.593.599,50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166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R$ 918.719,88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2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R$ 76.559,99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pedidos analisados em 2026, as margens reais ficaram entre 8,7% e 17,2% — abaixo dessa referência.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053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Percentual de rentabilidade de 20% aplicado sobre a média mensal e sobre o total de cada ano.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 — Levantamento Comercial e Financeiro · 2026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183112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LEITURA FINAL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este levantamento mostra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916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nunca foi alcançada no período analisado.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melhor ano (2023) atingiu 44,6% da meta mensal de referência; 2024 ficou em 22,2% e 2025 em 42,5%.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58775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faturamento oscila muito de mês a mês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e, em 2023 e 2025, perdeu ritmo entre agosto e dezembro — exatamente o semestre com a meta mais alta.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48386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trimestre de maio a julho de 2026 operou no negativo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(– R$ 363,9 mil acumulados), com trajetória de recuperação: o prejuízo mensal caiu de R$ 190,4 mil para R$ 40,3 mil.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379976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margens por pedido variam de 8,7% a 17,2%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abaixo da referência de 20% — e os prazos de recebimento longos adiam a entrada do caixa.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6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527608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8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área comercial opera sem instrumentos de gestão consolidados: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1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CRM, sem indicadores unificados, sem histórico organizado de clientes, perdas, conversão e origem de leads.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EDR — Levantamento Comercial e Financeiro · 2026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2026-08-28T20:25:05Z</dcterms:created>
  <dcterms:modified xsi:type="dcterms:W3CDTF">2026-08-28T20:25:05Z</dcterms:modified>
</cp:coreProperties>
</file>